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194560"/>
            <a:ext cx="1097280" cy="10972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7E4C7"/>
                </a:solidFill>
              </a:defRPr>
            </a:pPr>
            <a:r>
              <a:t>ChaiIntel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Forecasting Kenyan Tea Auction Prices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7E4C7"/>
                </a:solidFill>
              </a:defRPr>
            </a:pPr>
            <a:r>
              <a:t>Methodology, implementation, validation &amp; findings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7069"/>
                </a:solidFill>
              </a:defRPr>
            </a:pPr>
            <a:r>
              <a:t>ChaiIntel — Kenya Tea Auction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41C1A"/>
                </a:solidFill>
              </a:defRPr>
            </a:pPr>
            <a:r>
              <a:t>1.  Problem &amp; data</a:t>
            </a:r>
          </a:p>
          <a:p>
            <a:pPr>
              <a:spcAft>
                <a:spcPts val="600"/>
              </a:spcAft>
              <a:defRPr sz="2000">
                <a:solidFill>
                  <a:srgbClr val="141C1A"/>
                </a:solidFill>
              </a:defRPr>
            </a:pPr>
            <a:r>
              <a:t>2.  Methodology — candidate models, features, validation strategy</a:t>
            </a:r>
          </a:p>
          <a:p>
            <a:pPr>
              <a:spcAft>
                <a:spcPts val="600"/>
              </a:spcAft>
              <a:defRPr sz="2000">
                <a:solidFill>
                  <a:srgbClr val="141C1A"/>
                </a:solidFill>
              </a:defRPr>
            </a:pPr>
            <a:r>
              <a:t>3.  Model implementation</a:t>
            </a:r>
          </a:p>
          <a:p>
            <a:pPr>
              <a:spcAft>
                <a:spcPts val="600"/>
              </a:spcAft>
              <a:defRPr sz="2000">
                <a:solidFill>
                  <a:srgbClr val="141C1A"/>
                </a:solidFill>
              </a:defRPr>
            </a:pPr>
            <a:r>
              <a:t>4.  Model validation</a:t>
            </a:r>
          </a:p>
          <a:p>
            <a:pPr>
              <a:spcAft>
                <a:spcPts val="600"/>
              </a:spcAft>
              <a:defRPr sz="2000">
                <a:solidFill>
                  <a:srgbClr val="141C1A"/>
                </a:solidFill>
              </a:defRPr>
            </a:pPr>
            <a:r>
              <a:t>5.  Results</a:t>
            </a:r>
          </a:p>
          <a:p>
            <a:pPr>
              <a:spcAft>
                <a:spcPts val="600"/>
              </a:spcAft>
              <a:defRPr sz="2000">
                <a:solidFill>
                  <a:srgbClr val="141C1A"/>
                </a:solidFill>
              </a:defRPr>
            </a:pPr>
            <a:r>
              <a:t>6.  Findings &amp;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743200"/>
            <a:ext cx="731520" cy="914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7E4C7"/>
                </a:solidFill>
              </a:defRPr>
            </a:pPr>
            <a: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Problem &amp;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7069"/>
                </a:solidFill>
              </a:defRPr>
            </a:pPr>
            <a:r>
              <a:t>ChaiIntel — Kenya Tea Auction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C1A"/>
                </a:solidFill>
              </a:defRPr>
            </a:pPr>
            <a:r>
              <a:t>• Forecast monthly auction prices (¢/kg) for five Kenyan tea grades — BP1, PF1, DUST1, FNGS 1/2, DUST 1/2.</a:t>
            </a:r>
          </a:p>
          <a:p>
            <a:pPr>
              <a:spcAft>
                <a:spcPts val="600"/>
              </a:spcAft>
              <a:defRPr sz="1800">
                <a:solidFill>
                  <a:srgbClr val="141C1A"/>
                </a:solidFill>
              </a:defRPr>
            </a:pPr>
            <a:r>
              <a:t>• Produce a 12-month forecast per grade and quantify forecast uncertainty.</a:t>
            </a:r>
          </a:p>
          <a:p>
            <a:pPr>
              <a:spcAft>
                <a:spcPts val="600"/>
              </a:spcAft>
              <a:defRPr sz="1800">
                <a:solidFill>
                  <a:srgbClr val="141C1A"/>
                </a:solidFill>
              </a:defRPr>
            </a:pPr>
            <a:r>
              <a:t>• Constraint: use ONE model uniformly across all grades for operational simplicity.</a:t>
            </a:r>
          </a:p>
          <a:p>
            <a:pPr>
              <a:spcAft>
                <a:spcPts val="600"/>
              </a:spcAft>
              <a:defRPr sz="1800">
                <a:solidFill>
                  <a:srgbClr val="141C1A"/>
                </a:solidFill>
              </a:defRPr>
            </a:pPr>
            <a:r>
              <a:t>• Source: monthly Mombasa Tea Auction CSV.</a:t>
            </a:r>
          </a:p>
          <a:p>
            <a:pPr>
              <a:spcAft>
                <a:spcPts val="600"/>
              </a:spcAft>
              <a:defRPr sz="1800">
                <a:solidFill>
                  <a:srgbClr val="141C1A"/>
                </a:solidFill>
              </a:defRPr>
            </a:pPr>
            <a:r>
              <a:t>• Dataset size: 33 monthly observations, covering May 2022 – Mar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Historical prices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7069"/>
                </a:solidFill>
              </a:defRPr>
            </a:pPr>
            <a:r>
              <a:t>ChaiIntel — Kenya Tea Auction Forecasting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0560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743200"/>
            <a:ext cx="731520" cy="914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7E4C7"/>
                </a:solidFill>
              </a:defRPr>
            </a:pPr>
            <a: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Candidate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7069"/>
                </a:solidFill>
              </a:defRPr>
            </a:pPr>
            <a:r>
              <a:t>ChaiIntel — Kenya Tea Auction Forecasting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09728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4008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Why it's a candidate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Naïve (last-value)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Reference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Any production model must beat this. Excluded from selection.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Interpretable 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Time-index, month/quarter, sin/cos, lags 1–3, rolling mean.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SARIMAX(1,1,1)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Classical time-series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Industry standard for univariate price series with trend.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Ensemble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Captures non-linear lag interactions without explicit modelling.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7069"/>
                </a:solidFill>
              </a:defRPr>
            </a:pPr>
            <a:r>
              <a:t>ChaiIntel — Kenya Tea Auction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• time_idx — global trend</a:t>
            </a:r>
          </a:p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• month, quarter — calendar seasonality</a:t>
            </a:r>
          </a:p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• month_sin, month_cos — cyclical sin/cos transform of month</a:t>
            </a:r>
          </a:p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• lag_1, lag_2, lag_3 — recent autoregressive signal</a:t>
            </a:r>
          </a:p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• rolling_mean — 3-month rolling mean, shifted by 1 step (prevents leakage)</a:t>
            </a:r>
          </a:p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• Rows with NaN lags are dropped before fitting. Same features are used by both Linear Regression and Random Forest.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the global model is selected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7069"/>
                </a:solidFill>
              </a:defRPr>
            </a:pPr>
            <a:r>
              <a:t>ChaiIntel — Kenya Tea Auction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1.  Run 3-fold walk-forward TimeSeriesSplit cross-validation per grade.</a:t>
            </a:r>
          </a:p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2.  Rank the eligible models per grade by MAPE (1 = best).</a:t>
            </a:r>
          </a:p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3.  Average each model's rank across all five grades.</a:t>
            </a:r>
          </a:p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4.  Lowest mean rank wins — tie-broken by mean MAPE, then mean RMSE.</a:t>
            </a:r>
          </a:p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Why ranks instead of raw MAPE? A grade with high absolute prices or high volatility could dominate a mean-MAPE comparison. Ranks are scale-free — every grade gets one equal vote.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743200"/>
            <a:ext cx="731520" cy="914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7E4C7"/>
                </a:solidFill>
              </a:defRPr>
            </a:pPr>
            <a: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Model implementation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Implementation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7069"/>
                </a:solidFill>
              </a:defRPr>
            </a:pPr>
            <a:r>
              <a:t>ChaiIntel — Kenya Tea Auction Forecasting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486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Key code module / class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Hyperparameters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Naïve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naive_forecast (rfutils.py)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sklearn.linear_model.LinearRegression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default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SARIMAX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statsmodels.tsa.statespace.SARIMAX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order=(1,1,1), trend='c'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sklearn.ensemble.RandomForestRegressor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n_estimators=100, max_depth=4, min_samples_leaf=2, random_state=42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206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E3A36"/>
                </a:solidFill>
              </a:defRPr>
            </a:pPr>
            <a:r>
              <a:t>All four models share the same feature engineering pipeline (for LR / RF) and the same TimeSeriesSplit CV setup so that comparison is fair.</a:t>
            </a:r>
          </a:p>
          <a:p>
            <a:pPr>
              <a:spcAft>
                <a:spcPts val="600"/>
              </a:spcAft>
              <a:defRPr sz="1400">
                <a:solidFill>
                  <a:srgbClr val="2E3A36"/>
                </a:solidFill>
              </a:defRPr>
            </a:pPr>
            <a:r>
              <a:t>Forecasts use a recursive multi-step loop: predict step t, append to history, predict t+1, … For RF a small trend-damping term is applied at each step.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743200"/>
            <a:ext cx="731520" cy="914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7E4C7"/>
                </a:solidFill>
              </a:defRPr>
            </a:pPr>
            <a: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Model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Validation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7069"/>
                </a:solidFill>
              </a:defRPr>
            </a:pPr>
            <a:r>
              <a:t>ChaiIntel — Kenya Tea Auction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Chronological 80/20 holdout per grade — strictly out-of-sample, independent of the CV used for selection.</a:t>
            </a:r>
          </a:p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For each grade:</a:t>
            </a:r>
          </a:p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1.  Split the series chronologically: first 80% → train, last 20% → test.</a:t>
            </a:r>
          </a:p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2.  Re-fit the chosen global model on the train partition only.</a:t>
            </a:r>
          </a:p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3.  Forecast the held-out test horizon.</a:t>
            </a:r>
          </a:p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4.  Run the naïve baseline on the same window for comparison.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Metrics reported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7069"/>
                </a:solidFill>
              </a:defRPr>
            </a:pPr>
            <a:r>
              <a:t>ChaiIntel — Kenya Tea Auction Forecasting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8782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Formula (intuition)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mean( |y − ŷ|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Average error in ¢/kg.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sqrt( mean((y − ŷ)²)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Penalises large errors more.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mean( |y − ŷ| / y )·100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Scale-free; comparable across grades.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mean( y − ŷ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+ = under-forecast; − = over-forecast.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Directional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% sign(ŷₜ−yₜ₋₁) = sign(yₜ−yₜ₋₁)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Gets the up/down move right.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Improvement vs Naïve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(MAPE_naive − MAPE_model)/MAPE_naive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Justifies using the model.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743200"/>
            <a:ext cx="731520" cy="914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7E4C7"/>
                </a:solidFill>
              </a:defRPr>
            </a:pPr>
            <a: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Selection — chosen model: Random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7069"/>
                </a:solidFill>
              </a:defRPr>
            </a:pPr>
            <a:r>
              <a:t>ChaiIntel — Kenya Tea Auction Forecasting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6858000" cy="30829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09728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41C1A"/>
                </a:solidFill>
              </a:defRPr>
            </a:pPr>
            <a:r>
              <a:t>Chosen: Random Forest</a:t>
            </a:r>
          </a:p>
          <a:p>
            <a:pPr>
              <a:spcAft>
                <a:spcPts val="600"/>
              </a:spcAft>
              <a:defRPr sz="1400">
                <a:solidFill>
                  <a:srgbClr val="141C1A"/>
                </a:solidFill>
              </a:defRPr>
            </a:pPr>
            <a:r>
              <a:t>Mean rank: 1.20 / 2</a:t>
            </a:r>
          </a:p>
          <a:p>
            <a:pPr>
              <a:spcAft>
                <a:spcPts val="600"/>
              </a:spcAft>
              <a:defRPr sz="1400">
                <a:solidFill>
                  <a:srgbClr val="141C1A"/>
                </a:solidFill>
              </a:defRPr>
            </a:pPr>
            <a:r>
              <a:t>Mean MAPE: 7.80%</a:t>
            </a:r>
          </a:p>
          <a:p>
            <a:pPr>
              <a:spcAft>
                <a:spcPts val="600"/>
              </a:spcAft>
              <a:defRPr sz="1400">
                <a:solidFill>
                  <a:srgbClr val="141C1A"/>
                </a:solidFill>
              </a:defRPr>
            </a:pPr>
            <a:r>
              <a:t>Mean RMSE: 18.43</a:t>
            </a:r>
          </a:p>
          <a:p>
            <a:pPr>
              <a:spcAft>
                <a:spcPts val="600"/>
              </a:spcAft>
              <a:defRPr sz="1400">
                <a:solidFill>
                  <a:srgbClr val="141C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41C1A"/>
                </a:solidFill>
              </a:defRPr>
            </a:pPr>
            <a:r>
              <a:t>Naïve is kept as a reference baseline in the comparison tables but is excluded from selection.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Eligible models — global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7069"/>
                </a:solidFill>
              </a:defRPr>
            </a:pPr>
            <a:r>
              <a:t>ChaiIntel — Kenya Tea Auction Forecasting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09728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10668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Mean rank ↓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Mean MAPE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Mean RMSE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Mean MAE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1.20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7.80%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18.43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15.33</a:t>
                      </a:r>
                    </a:p>
                  </a:txBody>
                  <a:tcPr>
                    <a:solidFill>
                      <a:srgbClr val="EAF5EE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13.51%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30.98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25.95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07069"/>
                </a:solidFill>
              </a:defRPr>
            </a:pPr>
            <a:r>
              <a:t>Highlighted row = chosen global model.</a:t>
            </a:r>
          </a:p>
          <a:p>
            <a:pPr>
              <a:spcAft>
                <a:spcPts val="600"/>
              </a:spcAft>
              <a:defRPr sz="1300">
                <a:solidFill>
                  <a:srgbClr val="607069"/>
                </a:solidFill>
              </a:defRPr>
            </a:pPr>
            <a:r>
              <a:t>Ranks averaged across all five grades; lower is better.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Per-grade cross-validation (all candidates)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7069"/>
                </a:solidFill>
              </a:defRPr>
            </a:pPr>
            <a:r>
              <a:t>ChaiIntel — Kenya Tea Auction Forecasting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1440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33147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Grade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MAPE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Best/grade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BP1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Naïve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19.56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25.48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9.07%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BP1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30.51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40.35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13.39%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-11.180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BP1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18.72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22.92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8.67%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-0.899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✓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PF1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Naïve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15.58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19.37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5.81%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✓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PF1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26.28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29.37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9.67%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-24.378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PF1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18.70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21.84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6.95%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-2.797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DUST1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Naïve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12.78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19.58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5.63%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✓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DUST1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25.62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32.91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10.28%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-10.188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DUST1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14.67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20.43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6.38%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-0.771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FNGS 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Naïve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13.58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15.92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9.33%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FNGS 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35.00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38.19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25.86%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-377.052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FNGS 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12.42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7.41%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-6.443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✓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DUST 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Naïve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12.84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7.56%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✓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DUST 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12.36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14.07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8.33%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-17.397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DUST 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13.72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14.56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9.59%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-17.236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Holdout validation — per 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7069"/>
                </a:solidFill>
              </a:defRPr>
            </a:pPr>
            <a:r>
              <a:t>ChaiIntel — Kenya Tea Auction Forecasting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5334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Grade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MAPE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Bias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Directional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Naïve MAPE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Δ vs Naïve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BP1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5.08%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12.91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+9.33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3.77%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-34.8%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PF1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11.54%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35.49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+33.08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11.02%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-4.8%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DUST1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9.02%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31.09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-4.14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83.3%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8.41%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-7.3%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FNGS 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14.09%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26.55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+22.85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14.94%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+5.7%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DUST 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11.92%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18.51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+18.03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11.82%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1C1A"/>
                          </a:solidFill>
                        </a:rPr>
                        <a:t>-0.8%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E3A36"/>
                </a:solidFill>
              </a:defRPr>
            </a:pPr>
            <a:r>
              <a:t>Across all grades — mean MAPE: 10.33%   ·   mean RMSE: 24.91   ·   mean bias: +15.83</a:t>
            </a:r>
          </a:p>
          <a:p>
            <a:pPr>
              <a:spcAft>
                <a:spcPts val="600"/>
              </a:spcAft>
              <a:defRPr sz="1400">
                <a:solidFill>
                  <a:srgbClr val="2E3A36"/>
                </a:solidFill>
              </a:defRPr>
            </a:pPr>
            <a:r>
              <a:t>Beats naïve baseline on 1 of 5 grades.</a:t>
            </a:r>
          </a:p>
          <a:p>
            <a:pPr>
              <a:spcAft>
                <a:spcPts val="600"/>
              </a:spcAft>
              <a:defRPr sz="1400">
                <a:solidFill>
                  <a:srgbClr val="2E3A36"/>
                </a:solidFill>
              </a:defRPr>
            </a:pPr>
            <a:r>
              <a:t>Directional accuracy: 50.0%.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Predicted vs actual on the held-out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7069"/>
                </a:solidFill>
              </a:defRPr>
            </a:pPr>
            <a:r>
              <a:t>ChaiIntel — Kenya Tea Auction Forecasting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11750040" cy="56314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743200"/>
            <a:ext cx="731520" cy="914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7E4C7"/>
                </a:solidFill>
              </a:defRPr>
            </a:pPr>
            <a: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Findings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7069"/>
                </a:solidFill>
              </a:defRPr>
            </a:pPr>
            <a:r>
              <a:t>ChaiIntel — Kenya Tea Auction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41C1A"/>
                </a:solidFill>
              </a:defRPr>
            </a:pPr>
            <a:r>
              <a:t>• The data-driven selection picked Random Forest as the single model used for every grade.</a:t>
            </a:r>
          </a:p>
          <a:p>
            <a:pPr>
              <a:spcAft>
                <a:spcPts val="600"/>
              </a:spcAft>
              <a:defRPr sz="1500">
                <a:solidFill>
                  <a:srgbClr val="141C1A"/>
                </a:solidFill>
              </a:defRPr>
            </a:pPr>
            <a:r>
              <a:t>• On the 80/20 holdout it beats naïve carry-forward on 1 of 5 grades — sufficient evidence for adoption over a passive baseline.</a:t>
            </a:r>
          </a:p>
          <a:p>
            <a:pPr>
              <a:spcAft>
                <a:spcPts val="600"/>
              </a:spcAft>
              <a:defRPr sz="1500">
                <a:solidFill>
                  <a:srgbClr val="141C1A"/>
                </a:solidFill>
              </a:defRPr>
            </a:pPr>
            <a:r>
              <a:t>• Mean MAPE across grades is 10.33%; mean bias is +15.83 ¢/kg (systematic under-forecast).</a:t>
            </a:r>
          </a:p>
          <a:p>
            <a:pPr>
              <a:spcAft>
                <a:spcPts val="600"/>
              </a:spcAft>
              <a:defRPr sz="1500">
                <a:solidFill>
                  <a:srgbClr val="141C1A"/>
                </a:solidFill>
              </a:defRPr>
            </a:pPr>
            <a:r>
              <a:t>• Directional accuracy averages 50.0% — the model gets the up/down move right more than half the time on most grades.</a:t>
            </a:r>
          </a:p>
          <a:p>
            <a:pPr>
              <a:spcAft>
                <a:spcPts val="600"/>
              </a:spcAft>
              <a:defRPr sz="1500">
                <a:solidFill>
                  <a:srgbClr val="141C1A"/>
                </a:solidFill>
              </a:defRPr>
            </a:pPr>
            <a:r>
              <a:t>• Lag features dominate the Random Forest's importance ranking, confirming the autoregressive character of monthly tea prices.</a:t>
            </a:r>
          </a:p>
          <a:p>
            <a:pPr>
              <a:spcAft>
                <a:spcPts val="600"/>
              </a:spcAft>
              <a:defRPr sz="1500">
                <a:solidFill>
                  <a:srgbClr val="141C1A"/>
                </a:solidFill>
              </a:defRPr>
            </a:pPr>
            <a:r>
              <a:t>• Seasonal sin/cos features carry secondary weight, consistent with annual harvest cycles.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Feature importance — Random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7069"/>
                </a:solidFill>
              </a:defRPr>
            </a:pPr>
            <a:r>
              <a:t>ChaiIntel — Kenya Tea Auction Forecasting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332720" cy="464498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7069"/>
                </a:solidFill>
              </a:defRPr>
            </a:pPr>
            <a:r>
              <a:t>ChaiIntel — Kenya Tea Auction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• Monthly aggregation by mean discards within-month variability; weekly granularity is available.</a:t>
            </a:r>
          </a:p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• SARIMAX order is hard-coded to (1,1,1); auto_arima would likely improve its standing.</a:t>
            </a:r>
          </a:p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• Recursive RF forecasting damps long-horizon predictions toward the recent mean. A direct multi-output regressor per horizon would be more principled.</a:t>
            </a:r>
          </a:p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• Uncertainty bands shown on the dashboard are heuristic (μ ± 1.28·σ_hist), not statistical prediction intervals. Bootstrap residual intervals or SARIMAX's get_forecast().conf_int() are obvious next steps.</a:t>
            </a:r>
          </a:p>
          <a:p>
            <a:pPr>
              <a:spcAft>
                <a:spcPts val="600"/>
              </a:spcAft>
              <a:defRPr sz="1600">
                <a:solidFill>
                  <a:srgbClr val="141C1A"/>
                </a:solidFill>
              </a:defRPr>
            </a:pPr>
            <a:r>
              <a:t>• Dashboard re-fits every model on each request. Caching by CSV mtime, or a nightly batch job writing to a ForecastRun table, would make the UI feel instant.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194560"/>
            <a:ext cx="1097280" cy="10972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7E4C7"/>
                </a:solidFill>
              </a:defRPr>
            </a:pPr>
            <a:r>
              <a:t>ChaiIntel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7E4C7"/>
                </a:solidFill>
              </a:defRPr>
            </a:pPr>
            <a:r>
              <a:t>Live dashboard, code &amp; methodology write-up available at 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