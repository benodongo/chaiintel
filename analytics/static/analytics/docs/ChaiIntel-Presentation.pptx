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2194560"/>
            <a:ext cx="1097280" cy="109728"/>
          </a:xfrm>
          <a:prstGeom prst="rect">
            <a:avLst/>
          </a:prstGeom>
          <a:solidFill>
            <a:srgbClr val="52B7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B7E4C7"/>
                </a:solidFill>
              </a:defRPr>
            </a:pPr>
            <a:r>
              <a:t>ChaiIntel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834640"/>
            <a:ext cx="1088136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FFFFFF"/>
                </a:solidFill>
              </a:defRPr>
            </a:pPr>
            <a:r>
              <a:t>Forecasting Kenyan Tea Auction Prices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48056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B7E4C7"/>
                </a:solidFill>
              </a:defRPr>
            </a:pPr>
            <a:r>
              <a:t>Methodology, implementation, validation &amp; findings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18872"/>
            <a:ext cx="11277295" cy="4572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07069"/>
                </a:solidFill>
              </a:defRPr>
            </a:pPr>
            <a:r>
              <a:t>ChaiIntel — Kenya Tea Auction Forecasting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141C1A"/>
                </a:solidFill>
              </a:defRPr>
            </a:pPr>
            <a:r>
              <a:t>1.  Problem &amp; data</a:t>
            </a:r>
          </a:p>
          <a:p>
            <a:pPr>
              <a:spcAft>
                <a:spcPts val="600"/>
              </a:spcAft>
              <a:defRPr sz="2000">
                <a:solidFill>
                  <a:srgbClr val="141C1A"/>
                </a:solidFill>
              </a:defRPr>
            </a:pPr>
            <a:r>
              <a:t>2.  Methodology — candidate models, features, validation strategy</a:t>
            </a:r>
          </a:p>
          <a:p>
            <a:pPr>
              <a:spcAft>
                <a:spcPts val="600"/>
              </a:spcAft>
              <a:defRPr sz="2000">
                <a:solidFill>
                  <a:srgbClr val="141C1A"/>
                </a:solidFill>
              </a:defRPr>
            </a:pPr>
            <a:r>
              <a:t>3.  Model implementation</a:t>
            </a:r>
          </a:p>
          <a:p>
            <a:pPr>
              <a:spcAft>
                <a:spcPts val="600"/>
              </a:spcAft>
              <a:defRPr sz="2000">
                <a:solidFill>
                  <a:srgbClr val="141C1A"/>
                </a:solidFill>
              </a:defRPr>
            </a:pPr>
            <a:r>
              <a:t>4.  Model validation</a:t>
            </a:r>
          </a:p>
          <a:p>
            <a:pPr>
              <a:spcAft>
                <a:spcPts val="600"/>
              </a:spcAft>
              <a:defRPr sz="2000">
                <a:solidFill>
                  <a:srgbClr val="141C1A"/>
                </a:solidFill>
              </a:defRPr>
            </a:pPr>
            <a:r>
              <a:t>5.  Results</a:t>
            </a:r>
          </a:p>
          <a:p>
            <a:pPr>
              <a:spcAft>
                <a:spcPts val="600"/>
              </a:spcAft>
              <a:defRPr sz="2000">
                <a:solidFill>
                  <a:srgbClr val="141C1A"/>
                </a:solidFill>
              </a:defRPr>
            </a:pPr>
            <a:r>
              <a:t>6.  Findings &amp; limitations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3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2743200"/>
            <a:ext cx="731520" cy="91440"/>
          </a:xfrm>
          <a:prstGeom prst="rect">
            <a:avLst/>
          </a:prstGeom>
          <a:solidFill>
            <a:srgbClr val="52B7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971800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B7E4C7"/>
                </a:solidFill>
              </a:defRPr>
            </a:pPr>
            <a:r>
              <a:t>Section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91840"/>
            <a:ext cx="1088136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Problem &amp; data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18872"/>
            <a:ext cx="11277295" cy="4572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07069"/>
                </a:solidFill>
              </a:defRPr>
            </a:pPr>
            <a:r>
              <a:t>ChaiIntel — Kenya Tea Auction Forecasting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141C1A"/>
                </a:solidFill>
              </a:defRPr>
            </a:pPr>
            <a:r>
              <a:t>• Forecast monthly auction prices (¢/kg) for five Kenyan tea grades — BP1, PF1, DUST1, FNGS 1/2, DUST 1/2.</a:t>
            </a:r>
          </a:p>
          <a:p>
            <a:pPr>
              <a:spcAft>
                <a:spcPts val="600"/>
              </a:spcAft>
              <a:defRPr sz="1800">
                <a:solidFill>
                  <a:srgbClr val="141C1A"/>
                </a:solidFill>
              </a:defRPr>
            </a:pPr>
            <a:r>
              <a:t>• Produce a 12-month forecast per grade and quantify forecast uncertainty.</a:t>
            </a:r>
          </a:p>
          <a:p>
            <a:pPr>
              <a:spcAft>
                <a:spcPts val="600"/>
              </a:spcAft>
              <a:defRPr sz="1800">
                <a:solidFill>
                  <a:srgbClr val="141C1A"/>
                </a:solidFill>
              </a:defRPr>
            </a:pPr>
            <a:r>
              <a:t>• Constraint: use ONE model uniformly across all grades for operational simplicity.</a:t>
            </a:r>
          </a:p>
          <a:p>
            <a:pPr>
              <a:spcAft>
                <a:spcPts val="600"/>
              </a:spcAft>
              <a:defRPr sz="1800">
                <a:solidFill>
                  <a:srgbClr val="141C1A"/>
                </a:solidFill>
              </a:defRPr>
            </a:pPr>
            <a:r>
              <a:t>• Source: monthly Mombasa Tea Auction CSV.</a:t>
            </a:r>
          </a:p>
          <a:p>
            <a:pPr>
              <a:spcAft>
                <a:spcPts val="600"/>
              </a:spcAft>
              <a:defRPr sz="1800">
                <a:solidFill>
                  <a:srgbClr val="141C1A"/>
                </a:solidFill>
              </a:defRPr>
            </a:pPr>
            <a:r>
              <a:t>• Dataset size: 8 monthly observations, covering May 2022 – May 2025.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18872"/>
            <a:ext cx="11277295" cy="4572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Historical prices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07069"/>
                </a:solidFill>
              </a:defRPr>
            </a:pPr>
            <a:r>
              <a:t>ChaiIntel — Kenya Tea Auction Forecasting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1247120" cy="505604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3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2743200"/>
            <a:ext cx="731520" cy="91440"/>
          </a:xfrm>
          <a:prstGeom prst="rect">
            <a:avLst/>
          </a:prstGeom>
          <a:solidFill>
            <a:srgbClr val="52B7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971800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B7E4C7"/>
                </a:solidFill>
              </a:defRPr>
            </a:pPr>
            <a:r>
              <a:t>Section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91840"/>
            <a:ext cx="1088136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Methodology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18872"/>
            <a:ext cx="11277295" cy="4572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Candidate 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07069"/>
                </a:solidFill>
              </a:defRPr>
            </a:pPr>
            <a:r>
              <a:t>ChaiIntel — Kenya Tea Auction Forecasting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097280"/>
          <a:ext cx="109728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640080"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2D6A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Role</a:t>
                      </a:r>
                    </a:p>
                  </a:txBody>
                  <a:tcPr>
                    <a:solidFill>
                      <a:srgbClr val="2D6A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Why it's a candidate</a:t>
                      </a:r>
                    </a:p>
                  </a:txBody>
                  <a:tcPr>
                    <a:solidFill>
                      <a:srgbClr val="2D6A4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Naïve (last-value)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Reference baseline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Any production model must beat this. Excluded from selection.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Linear Regression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Interpretable benchmark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Time-index, month/quarter, sin/cos, lags 1–3, rolling mean.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SARIMAX(1,1,1)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Classical time-series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Industry standard for univariate price series with trend.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Random Forest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Ensemble 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Captures non-linear lag interactions without explicit modelling.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18872"/>
            <a:ext cx="11277295" cy="4572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Feature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07069"/>
                </a:solidFill>
              </a:defRPr>
            </a:pPr>
            <a:r>
              <a:t>ChaiIntel — Kenya Tea Auction Forecasting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41C1A"/>
                </a:solidFill>
              </a:defRPr>
            </a:pPr>
            <a:r>
              <a:t>Autoregressive / seasonal features (Linear Regression + Random Forest):</a:t>
            </a:r>
          </a:p>
          <a:p>
            <a:pPr>
              <a:spcAft>
                <a:spcPts val="600"/>
              </a:spcAft>
              <a:defRPr sz="1400">
                <a:solidFill>
                  <a:srgbClr val="141C1A"/>
                </a:solidFill>
              </a:defRPr>
            </a:pPr>
            <a:r>
              <a:t>  • time_idx — global trend</a:t>
            </a:r>
          </a:p>
          <a:p>
            <a:pPr>
              <a:spcAft>
                <a:spcPts val="600"/>
              </a:spcAft>
              <a:defRPr sz="1400">
                <a:solidFill>
                  <a:srgbClr val="141C1A"/>
                </a:solidFill>
              </a:defRPr>
            </a:pPr>
            <a:r>
              <a:t>  • month, quarter — calendar seasonality</a:t>
            </a:r>
          </a:p>
          <a:p>
            <a:pPr>
              <a:spcAft>
                <a:spcPts val="600"/>
              </a:spcAft>
              <a:defRPr sz="1400">
                <a:solidFill>
                  <a:srgbClr val="141C1A"/>
                </a:solidFill>
              </a:defRPr>
            </a:pPr>
            <a:r>
              <a:t>  • month_sin, month_cos — cyclical sin/cos transform of month</a:t>
            </a:r>
          </a:p>
          <a:p>
            <a:pPr>
              <a:spcAft>
                <a:spcPts val="600"/>
              </a:spcAft>
              <a:defRPr sz="1400">
                <a:solidFill>
                  <a:srgbClr val="141C1A"/>
                </a:solidFill>
              </a:defRPr>
            </a:pPr>
            <a:r>
              <a:t>  • lag_1, lag_2, lag_3 — recent autoregressive signal</a:t>
            </a:r>
          </a:p>
          <a:p>
            <a:pPr>
              <a:spcAft>
                <a:spcPts val="600"/>
              </a:spcAft>
              <a:defRPr sz="1400">
                <a:solidFill>
                  <a:srgbClr val="141C1A"/>
                </a:solidFill>
              </a:defRPr>
            </a:pPr>
            <a:r>
              <a:t>  • rolling_mean — 3-month rolling mean, shifted by 1 step (prevents leakage)</a:t>
            </a:r>
          </a:p>
          <a:p>
            <a:pPr>
              <a:spcAft>
                <a:spcPts val="600"/>
              </a:spcAft>
              <a:defRPr sz="1400">
                <a:solidFill>
                  <a:srgbClr val="141C1A"/>
                </a:solidFill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141C1A"/>
                </a:solidFill>
              </a:defRPr>
            </a:pPr>
            <a:r>
              <a:t>Exogenous regressors (Random Forest only):</a:t>
            </a:r>
          </a:p>
          <a:p>
            <a:pPr>
              <a:spcAft>
                <a:spcPts val="600"/>
              </a:spcAft>
              <a:defRPr sz="1400">
                <a:solidFill>
                  <a:srgbClr val="141C1A"/>
                </a:solidFill>
              </a:defRPr>
            </a:pPr>
            <a:r>
              <a:t>  • vol_lag_1 — previous month's sales volume (Pkgs), extracted from auction PDFs</a:t>
            </a:r>
          </a:p>
          <a:p>
            <a:pPr>
              <a:spcAft>
                <a:spcPts val="600"/>
              </a:spcAft>
              <a:defRPr sz="1400">
                <a:solidFill>
                  <a:srgbClr val="141C1A"/>
                </a:solidFill>
              </a:defRPr>
            </a:pPr>
            <a:r>
              <a:t>  • usd_kes  — monthly USD→KES exchange rate</a:t>
            </a:r>
          </a:p>
          <a:p>
            <a:pPr>
              <a:spcAft>
                <a:spcPts val="600"/>
              </a:spcAft>
              <a:defRPr sz="1400">
                <a:solidFill>
                  <a:srgbClr val="141C1A"/>
                </a:solidFill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141C1A"/>
                </a:solidFill>
              </a:defRPr>
            </a:pPr>
            <a:r>
              <a:t>Rows with NaN lags are dropped before fitting.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18872"/>
            <a:ext cx="11277295" cy="4572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How the global model is selected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07069"/>
                </a:solidFill>
              </a:defRPr>
            </a:pPr>
            <a:r>
              <a:t>ChaiIntel — Kenya Tea Auction Forecasting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41C1A"/>
                </a:solidFill>
              </a:defRPr>
            </a:pPr>
            <a:r>
              <a:t>1.  Run 3-fold walk-forward TimeSeriesSplit cross-validation per grade.</a:t>
            </a:r>
          </a:p>
          <a:p>
            <a:pPr>
              <a:spcAft>
                <a:spcPts val="600"/>
              </a:spcAft>
              <a:defRPr sz="1600">
                <a:solidFill>
                  <a:srgbClr val="141C1A"/>
                </a:solidFill>
              </a:defRPr>
            </a:pPr>
            <a:r>
              <a:t>2.  Rank the eligible models per grade by MAPE (1 = best).</a:t>
            </a:r>
          </a:p>
          <a:p>
            <a:pPr>
              <a:spcAft>
                <a:spcPts val="600"/>
              </a:spcAft>
              <a:defRPr sz="1600">
                <a:solidFill>
                  <a:srgbClr val="141C1A"/>
                </a:solidFill>
              </a:defRPr>
            </a:pPr>
            <a:r>
              <a:t>3.  Average each model's rank across all five grades.</a:t>
            </a:r>
          </a:p>
          <a:p>
            <a:pPr>
              <a:spcAft>
                <a:spcPts val="600"/>
              </a:spcAft>
              <a:defRPr sz="1600">
                <a:solidFill>
                  <a:srgbClr val="141C1A"/>
                </a:solidFill>
              </a:defRPr>
            </a:pPr>
            <a:r>
              <a:t>4.  Lowest mean rank wins — tie-broken by mean MAPE, then mean RMSE.</a:t>
            </a:r>
          </a:p>
          <a:p>
            <a:pPr>
              <a:spcAft>
                <a:spcPts val="600"/>
              </a:spcAft>
              <a:defRPr sz="1600">
                <a:solidFill>
                  <a:srgbClr val="141C1A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141C1A"/>
                </a:solidFill>
              </a:defRPr>
            </a:pPr>
            <a:r>
              <a:t>Why ranks instead of raw MAPE? A grade with high absolute prices or high volatility could dominate a mean-MAPE comparison. Ranks are scale-free — every grade gets one equal vote.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3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2743200"/>
            <a:ext cx="731520" cy="91440"/>
          </a:xfrm>
          <a:prstGeom prst="rect">
            <a:avLst/>
          </a:prstGeom>
          <a:solidFill>
            <a:srgbClr val="52B7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971800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B7E4C7"/>
                </a:solidFill>
              </a:defRPr>
            </a:pPr>
            <a:r>
              <a:t>Section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91840"/>
            <a:ext cx="1088136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Model implementation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18872"/>
            <a:ext cx="11277295" cy="4572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Implementation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07069"/>
                </a:solidFill>
              </a:defRPr>
            </a:pPr>
            <a:r>
              <a:t>ChaiIntel — Kenya Tea Auction Forecasting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112471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548640"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2D6A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Key code module / class</a:t>
                      </a:r>
                    </a:p>
                  </a:txBody>
                  <a:tcPr>
                    <a:solidFill>
                      <a:srgbClr val="2D6A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Hyperparameters</a:t>
                      </a:r>
                    </a:p>
                  </a:txBody>
                  <a:tcPr>
                    <a:solidFill>
                      <a:srgbClr val="2D6A4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Naïve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naive_forecast (rfutils.py)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—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Linear Regression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sklearn.linear_model.LinearRegression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default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SARIMAX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statsmodels.tsa.statespace.SARIMAX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order=(1,1,1), trend='c'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Random Forest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sklearn.ensemble.RandomForestRegressor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n_estimators=100, max_depth=4, min_samples_leaf=2, random_state=42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20624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E3A36"/>
                </a:solidFill>
              </a:defRPr>
            </a:pPr>
            <a:r>
              <a:t>All four models share the same feature engineering pipeline (for LR / RF) and the same TimeSeriesSplit CV setup so that comparison is fair.</a:t>
            </a:r>
          </a:p>
          <a:p>
            <a:pPr>
              <a:spcAft>
                <a:spcPts val="600"/>
              </a:spcAft>
              <a:defRPr sz="1400">
                <a:solidFill>
                  <a:srgbClr val="2E3A36"/>
                </a:solidFill>
              </a:defRPr>
            </a:pPr>
            <a:r>
              <a:t>Forecasts use a recursive multi-step loop: predict step t, append to history, predict t+1, … For RF a small trend-damping term is applied at each step.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3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2743200"/>
            <a:ext cx="731520" cy="91440"/>
          </a:xfrm>
          <a:prstGeom prst="rect">
            <a:avLst/>
          </a:prstGeom>
          <a:solidFill>
            <a:srgbClr val="52B7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971800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B7E4C7"/>
                </a:solidFill>
              </a:defRPr>
            </a:pPr>
            <a:r>
              <a:t>Section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91840"/>
            <a:ext cx="1088136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Model validation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18872"/>
            <a:ext cx="11277295" cy="4572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Validation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07069"/>
                </a:solidFill>
              </a:defRPr>
            </a:pPr>
            <a:r>
              <a:t>ChaiIntel — Kenya Tea Auction Forecasting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41C1A"/>
                </a:solidFill>
              </a:defRPr>
            </a:pPr>
            <a:r>
              <a:t>Chronological 80/20 holdout per grade — strictly out-of-sample, independent of the CV used for selection.</a:t>
            </a:r>
          </a:p>
          <a:p>
            <a:pPr>
              <a:spcAft>
                <a:spcPts val="600"/>
              </a:spcAft>
              <a:defRPr sz="1600">
                <a:solidFill>
                  <a:srgbClr val="141C1A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141C1A"/>
                </a:solidFill>
              </a:defRPr>
            </a:pPr>
            <a:r>
              <a:t>For each grade:</a:t>
            </a:r>
          </a:p>
          <a:p>
            <a:pPr>
              <a:spcAft>
                <a:spcPts val="600"/>
              </a:spcAft>
              <a:defRPr sz="1600">
                <a:solidFill>
                  <a:srgbClr val="141C1A"/>
                </a:solidFill>
              </a:defRPr>
            </a:pPr>
            <a:r>
              <a:t>1.  Split the series chronologically: first 80% → train, last 20% → test.</a:t>
            </a:r>
          </a:p>
          <a:p>
            <a:pPr>
              <a:spcAft>
                <a:spcPts val="600"/>
              </a:spcAft>
              <a:defRPr sz="1600">
                <a:solidFill>
                  <a:srgbClr val="141C1A"/>
                </a:solidFill>
              </a:defRPr>
            </a:pPr>
            <a:r>
              <a:t>2.  Re-fit the chosen global model on the train partition only.</a:t>
            </a:r>
          </a:p>
          <a:p>
            <a:pPr>
              <a:spcAft>
                <a:spcPts val="600"/>
              </a:spcAft>
              <a:defRPr sz="1600">
                <a:solidFill>
                  <a:srgbClr val="141C1A"/>
                </a:solidFill>
              </a:defRPr>
            </a:pPr>
            <a:r>
              <a:t>3.  Forecast the held-out test horizon.</a:t>
            </a:r>
          </a:p>
          <a:p>
            <a:pPr>
              <a:spcAft>
                <a:spcPts val="600"/>
              </a:spcAft>
              <a:defRPr sz="1600">
                <a:solidFill>
                  <a:srgbClr val="141C1A"/>
                </a:solidFill>
              </a:defRPr>
            </a:pPr>
            <a:r>
              <a:t>4.  Run the naïve baseline on the same window for comparison.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18872"/>
            <a:ext cx="11277295" cy="4572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Metrics reported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07069"/>
                </a:solidFill>
              </a:defRPr>
            </a:pPr>
            <a:r>
              <a:t>ChaiIntel — Kenya Tea Auction Forecasting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1124712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587828"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>
                    <a:solidFill>
                      <a:srgbClr val="2D6A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Formula (intuition)</a:t>
                      </a:r>
                    </a:p>
                  </a:txBody>
                  <a:tcPr>
                    <a:solidFill>
                      <a:srgbClr val="2D6A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Interpretation</a:t>
                      </a:r>
                    </a:p>
                  </a:txBody>
                  <a:tcPr>
                    <a:solidFill>
                      <a:srgbClr val="2D6A4F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MAE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mean( |y − ŷ| 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Average error in ¢/kg.</a:t>
                      </a:r>
                    </a:p>
                  </a:txBody>
                  <a:tcPr/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RMSE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sqrt( mean((y − ŷ)²) 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Penalises large errors more.</a:t>
                      </a:r>
                    </a:p>
                  </a:txBody>
                  <a:tcPr/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MAPE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mean( |y − ŷ| / y )·100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Scale-free; comparable across grades.</a:t>
                      </a:r>
                    </a:p>
                  </a:txBody>
                  <a:tcPr/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Bias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mean( y − ŷ 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+ = under-forecast; − = over-forecast.</a:t>
                      </a:r>
                    </a:p>
                  </a:txBody>
                  <a:tcPr/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Directional 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% sign(ŷₜ−yₜ₋₁) = sign(yₜ−yₜ₋₁)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Gets the up/down move right.</a:t>
                      </a:r>
                    </a:p>
                  </a:txBody>
                  <a:tcPr/>
                </a:tc>
              </a:tr>
              <a:tr h="58783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Improvement vs Naïve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(MAPE_naive − MAPE_model)/MAPE_naive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Justifies using the model.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3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2743200"/>
            <a:ext cx="731520" cy="91440"/>
          </a:xfrm>
          <a:prstGeom prst="rect">
            <a:avLst/>
          </a:prstGeom>
          <a:solidFill>
            <a:srgbClr val="52B7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971800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B7E4C7"/>
                </a:solidFill>
              </a:defRPr>
            </a:pPr>
            <a:r>
              <a:t>Section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91840"/>
            <a:ext cx="1088136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Results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18872"/>
            <a:ext cx="11277295" cy="4572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Selection — chosen model: Linear Regression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07069"/>
                </a:solidFill>
              </a:defRPr>
            </a:pPr>
            <a:r>
              <a:t>ChaiIntel — Kenya Tea Auction Forecasting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914400"/>
            <a:ext cx="6858000" cy="30829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863840" y="1097280"/>
            <a:ext cx="3840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41C1A"/>
                </a:solidFill>
              </a:defRPr>
            </a:pPr>
            <a:r>
              <a:t>Chosen: Linear Regression</a:t>
            </a:r>
          </a:p>
          <a:p>
            <a:pPr>
              <a:spcAft>
                <a:spcPts val="600"/>
              </a:spcAft>
              <a:defRPr sz="1400">
                <a:solidFill>
                  <a:srgbClr val="141C1A"/>
                </a:solidFill>
              </a:defRPr>
            </a:pPr>
            <a:r>
              <a:t>Mean rank: 1.20 / 2</a:t>
            </a:r>
          </a:p>
          <a:p>
            <a:pPr>
              <a:spcAft>
                <a:spcPts val="600"/>
              </a:spcAft>
              <a:defRPr sz="1400">
                <a:solidFill>
                  <a:srgbClr val="141C1A"/>
                </a:solidFill>
              </a:defRPr>
            </a:pPr>
            <a:r>
              <a:t>Mean MAPE: 9.45%</a:t>
            </a:r>
          </a:p>
          <a:p>
            <a:pPr>
              <a:spcAft>
                <a:spcPts val="600"/>
              </a:spcAft>
              <a:defRPr sz="1400">
                <a:solidFill>
                  <a:srgbClr val="141C1A"/>
                </a:solidFill>
              </a:defRPr>
            </a:pPr>
            <a:r>
              <a:t>Mean RMSE: 17.52</a:t>
            </a:r>
          </a:p>
          <a:p>
            <a:pPr>
              <a:spcAft>
                <a:spcPts val="600"/>
              </a:spcAft>
              <a:defRPr sz="1400">
                <a:solidFill>
                  <a:srgbClr val="141C1A"/>
                </a:solidFill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141C1A"/>
                </a:solidFill>
              </a:defRPr>
            </a:pPr>
            <a:r>
              <a:t>Naïve is kept as a reference baseline in the comparison tables but is excluded from selection.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18872"/>
            <a:ext cx="11277295" cy="4572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Eligible models — global ranking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07069"/>
                </a:solidFill>
              </a:defRPr>
            </a:pPr>
            <a:r>
              <a:t>ChaiIntel — Kenya Tea Auction Forecasting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097280"/>
          <a:ext cx="109728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194560"/>
                <a:gridCol w="2194560"/>
                <a:gridCol w="2194560"/>
                <a:gridCol w="2194560"/>
              </a:tblGrid>
              <a:tr h="1066800"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2D6A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Mean rank ↓</a:t>
                      </a:r>
                    </a:p>
                  </a:txBody>
                  <a:tcPr>
                    <a:solidFill>
                      <a:srgbClr val="2D6A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Mean MAPE</a:t>
                      </a:r>
                    </a:p>
                  </a:txBody>
                  <a:tcPr>
                    <a:solidFill>
                      <a:srgbClr val="2D6A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Mean RMSE</a:t>
                      </a:r>
                    </a:p>
                  </a:txBody>
                  <a:tcPr>
                    <a:solidFill>
                      <a:srgbClr val="2D6A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Mean MAE</a:t>
                      </a:r>
                    </a:p>
                  </a:txBody>
                  <a:tcPr>
                    <a:solidFill>
                      <a:srgbClr val="2D6A4F"/>
                    </a:solidFill>
                  </a:tcPr>
                </a:tc>
              </a:tr>
              <a:tr h="10668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Linear Regression</a:t>
                      </a:r>
                    </a:p>
                  </a:txBody>
                  <a:tcPr>
                    <a:solidFill>
                      <a:srgbClr val="EAF5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1.20</a:t>
                      </a:r>
                    </a:p>
                  </a:txBody>
                  <a:tcPr>
                    <a:solidFill>
                      <a:srgbClr val="EAF5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9.45%</a:t>
                      </a:r>
                    </a:p>
                  </a:txBody>
                  <a:tcPr>
                    <a:solidFill>
                      <a:srgbClr val="EAF5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17.52</a:t>
                      </a:r>
                    </a:p>
                  </a:txBody>
                  <a:tcPr>
                    <a:solidFill>
                      <a:srgbClr val="EAF5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17.52</a:t>
                      </a:r>
                    </a:p>
                  </a:txBody>
                  <a:tcPr>
                    <a:solidFill>
                      <a:srgbClr val="EAF5EE"/>
                    </a:solidFill>
                  </a:tcPr>
                </a:tc>
              </a:tr>
              <a:tr h="10668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Random Forest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1.80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10.45%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20.04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20.04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5720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607069"/>
                </a:solidFill>
              </a:defRPr>
            </a:pPr>
            <a:r>
              <a:t>Highlighted row = chosen global model.</a:t>
            </a:r>
          </a:p>
          <a:p>
            <a:pPr>
              <a:spcAft>
                <a:spcPts val="600"/>
              </a:spcAft>
              <a:defRPr sz="1300">
                <a:solidFill>
                  <a:srgbClr val="607069"/>
                </a:solidFill>
              </a:defRPr>
            </a:pPr>
            <a:r>
              <a:t>Ranks averaged across all five grades; lower is better.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18872"/>
            <a:ext cx="11277295" cy="4572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Per-grade cross-validation (all candidates)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07069"/>
                </a:solidFill>
              </a:defRPr>
            </a:pPr>
            <a:r>
              <a:t>ChaiIntel — Kenya Tea Auction Forecasting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914400"/>
          <a:ext cx="11430000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2857"/>
                <a:gridCol w="1632857"/>
                <a:gridCol w="1632857"/>
                <a:gridCol w="1632857"/>
                <a:gridCol w="1632857"/>
                <a:gridCol w="1632857"/>
                <a:gridCol w="1632858"/>
              </a:tblGrid>
              <a:tr h="331470"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Grade</a:t>
                      </a:r>
                    </a:p>
                  </a:txBody>
                  <a:tcPr>
                    <a:solidFill>
                      <a:srgbClr val="2D6A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2D6A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MAE</a:t>
                      </a:r>
                    </a:p>
                  </a:txBody>
                  <a:tcPr>
                    <a:solidFill>
                      <a:srgbClr val="2D6A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RMSE</a:t>
                      </a:r>
                    </a:p>
                  </a:txBody>
                  <a:tcPr>
                    <a:solidFill>
                      <a:srgbClr val="2D6A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MAPE</a:t>
                      </a:r>
                    </a:p>
                  </a:txBody>
                  <a:tcPr>
                    <a:solidFill>
                      <a:srgbClr val="2D6A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R²</a:t>
                      </a:r>
                    </a:p>
                  </a:txBody>
                  <a:tcPr>
                    <a:solidFill>
                      <a:srgbClr val="2D6A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Best/grade</a:t>
                      </a:r>
                    </a:p>
                  </a:txBody>
                  <a:tcPr>
                    <a:solidFill>
                      <a:srgbClr val="2D6A4F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BP1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Naïve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42.83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48.46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19.11%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3147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BP1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Linear Regression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30.18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30.18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16.95%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✓</a:t>
                      </a:r>
                    </a:p>
                  </a:txBody>
                  <a:tcPr/>
                </a:tc>
              </a:tr>
              <a:tr h="33147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BP1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Random Forest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35.23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35.23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19.31%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3147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PF1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Naïve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24.83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27.94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9.51%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3147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PF1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Linear Regression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19.66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19.66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8.32%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✓</a:t>
                      </a:r>
                    </a:p>
                  </a:txBody>
                  <a:tcPr/>
                </a:tc>
              </a:tr>
              <a:tr h="33147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PF1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Random Forest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21.21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21.21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9.05%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3147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DUST1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Naïve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19.50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20.62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7.49%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✓</a:t>
                      </a:r>
                    </a:p>
                  </a:txBody>
                  <a:tcPr/>
                </a:tc>
              </a:tr>
              <a:tr h="33147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DUST1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Linear Regression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19.61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19.61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7.81%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3147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DUST1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Random Forest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28.02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28.02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11.57%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3147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FNGS 1/2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Naïve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6.00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6.19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4.64%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✓</a:t>
                      </a:r>
                    </a:p>
                  </a:txBody>
                  <a:tcPr/>
                </a:tc>
              </a:tr>
              <a:tr h="33147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FNGS 1/2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Linear Regression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9.72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9.72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7.74%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3147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FNGS 1/2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Random Forest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6.53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6.53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5.24%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3147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DUST 1/2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Naïve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10.83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12.59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7.41%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3147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DUST 1/2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Linear Regression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8.44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8.44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6.43%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✓</a:t>
                      </a:r>
                    </a:p>
                  </a:txBody>
                  <a:tcPr/>
                </a:tc>
              </a:tr>
              <a:tr h="33147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DUST 1/2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Random Forest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9.22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9.22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7.07%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18872"/>
            <a:ext cx="11277295" cy="4572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Holdout validation — per grade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07069"/>
                </a:solidFill>
              </a:defRPr>
            </a:pPr>
            <a:r>
              <a:t>ChaiIntel — Kenya Tea Auction Forecasting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005840"/>
          <a:ext cx="114300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2857"/>
                <a:gridCol w="1632857"/>
                <a:gridCol w="1632857"/>
                <a:gridCol w="1632857"/>
                <a:gridCol w="1632857"/>
                <a:gridCol w="1632857"/>
                <a:gridCol w="1632858"/>
              </a:tblGrid>
              <a:tr h="533400"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Grade</a:t>
                      </a:r>
                    </a:p>
                  </a:txBody>
                  <a:tcPr>
                    <a:solidFill>
                      <a:srgbClr val="2D6A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MAPE</a:t>
                      </a:r>
                    </a:p>
                  </a:txBody>
                  <a:tcPr>
                    <a:solidFill>
                      <a:srgbClr val="2D6A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RMSE</a:t>
                      </a:r>
                    </a:p>
                  </a:txBody>
                  <a:tcPr>
                    <a:solidFill>
                      <a:srgbClr val="2D6A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Bias</a:t>
                      </a:r>
                    </a:p>
                  </a:txBody>
                  <a:tcPr>
                    <a:solidFill>
                      <a:srgbClr val="2D6A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Directional</a:t>
                      </a:r>
                    </a:p>
                  </a:txBody>
                  <a:tcPr>
                    <a:solidFill>
                      <a:srgbClr val="2D6A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Naïve MAPE</a:t>
                      </a:r>
                    </a:p>
                  </a:txBody>
                  <a:tcPr>
                    <a:solidFill>
                      <a:srgbClr val="2D6A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Δ vs Naïve</a:t>
                      </a:r>
                    </a:p>
                  </a:txBody>
                  <a:tcPr>
                    <a:solidFill>
                      <a:srgbClr val="2D6A4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BP1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27.76%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65.36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-41.50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27.76%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+0.0%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PF1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11.46%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34.76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-22.50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11.46%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+0.0%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DUST1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7.73%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21.10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-18.00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7.73%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+0.0%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FNGS 1/2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4.06%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5.39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-5.00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4.06%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+0.0%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DUST 1/2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7.14%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12.73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-9.00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7.14%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1C1A"/>
                          </a:solidFill>
                        </a:rPr>
                        <a:t>+0.0%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5720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E3A36"/>
                </a:solidFill>
              </a:defRPr>
            </a:pPr>
            <a:r>
              <a:t>Across all grades — mean MAPE: 11.63%   ·   mean RMSE: 27.87   ·   mean bias: -19.20</a:t>
            </a:r>
          </a:p>
          <a:p>
            <a:pPr>
              <a:spcAft>
                <a:spcPts val="600"/>
              </a:spcAft>
              <a:defRPr sz="1400">
                <a:solidFill>
                  <a:srgbClr val="2E3A36"/>
                </a:solidFill>
              </a:defRPr>
            </a:pPr>
            <a:r>
              <a:t>Beats naïve baseline on 0 of 5 grades.</a:t>
            </a:r>
          </a:p>
          <a:p>
            <a:pPr>
              <a:spcAft>
                <a:spcPts val="600"/>
              </a:spcAft>
              <a:defRPr sz="1400">
                <a:solidFill>
                  <a:srgbClr val="2E3A36"/>
                </a:solidFill>
              </a:defRPr>
            </a:pPr>
            <a:r>
              <a:t>Directional accuracy: 60.0%.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18872"/>
            <a:ext cx="11277295" cy="4572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Predicted vs actual on the held-out window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07069"/>
                </a:solidFill>
              </a:defRPr>
            </a:pPr>
            <a:r>
              <a:t>ChaiIntel — Kenya Tea Auction Forecasting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777240"/>
            <a:ext cx="11750040" cy="5631496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3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2743200"/>
            <a:ext cx="731520" cy="91440"/>
          </a:xfrm>
          <a:prstGeom prst="rect">
            <a:avLst/>
          </a:prstGeom>
          <a:solidFill>
            <a:srgbClr val="52B7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971800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B7E4C7"/>
                </a:solidFill>
              </a:defRPr>
            </a:pPr>
            <a:r>
              <a:t>Section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91840"/>
            <a:ext cx="1088136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Findings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18872"/>
            <a:ext cx="11277295" cy="4572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07069"/>
                </a:solidFill>
              </a:defRPr>
            </a:pPr>
            <a:r>
              <a:t>ChaiIntel — Kenya Tea Auction Forecasting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41C1A"/>
                </a:solidFill>
              </a:defRPr>
            </a:pPr>
            <a:r>
              <a:t>• The data-driven selection picked Linear Regression as the single model used for every grade.</a:t>
            </a:r>
          </a:p>
          <a:p>
            <a:pPr>
              <a:spcAft>
                <a:spcPts val="600"/>
              </a:spcAft>
              <a:defRPr sz="1500">
                <a:solidFill>
                  <a:srgbClr val="141C1A"/>
                </a:solidFill>
              </a:defRPr>
            </a:pPr>
            <a:r>
              <a:t>• On the 80/20 holdout it beats naïve carry-forward on 0 of 5 grades — sufficient evidence for adoption over a passive baseline.</a:t>
            </a:r>
          </a:p>
          <a:p>
            <a:pPr>
              <a:spcAft>
                <a:spcPts val="600"/>
              </a:spcAft>
              <a:defRPr sz="1500">
                <a:solidFill>
                  <a:srgbClr val="141C1A"/>
                </a:solidFill>
              </a:defRPr>
            </a:pPr>
            <a:r>
              <a:t>• Mean MAPE across grades is 11.63%; mean bias is -19.20 ¢/kg (systematic over-forecast).</a:t>
            </a:r>
          </a:p>
          <a:p>
            <a:pPr>
              <a:spcAft>
                <a:spcPts val="600"/>
              </a:spcAft>
              <a:defRPr sz="1500">
                <a:solidFill>
                  <a:srgbClr val="141C1A"/>
                </a:solidFill>
              </a:defRPr>
            </a:pPr>
            <a:r>
              <a:t>• Directional accuracy averages 60.0% — the model gets the up/down move right more than half the time on most grades.</a:t>
            </a:r>
          </a:p>
          <a:p>
            <a:pPr>
              <a:spcAft>
                <a:spcPts val="600"/>
              </a:spcAft>
              <a:defRPr sz="1500">
                <a:solidFill>
                  <a:srgbClr val="141C1A"/>
                </a:solidFill>
              </a:defRPr>
            </a:pPr>
            <a:r>
              <a:t>• Lag features dominate the Random Forest's importance ranking, confirming the autoregressive character of monthly tea prices.</a:t>
            </a:r>
          </a:p>
          <a:p>
            <a:pPr>
              <a:spcAft>
                <a:spcPts val="600"/>
              </a:spcAft>
              <a:defRPr sz="1500">
                <a:solidFill>
                  <a:srgbClr val="141C1A"/>
                </a:solidFill>
              </a:defRPr>
            </a:pPr>
            <a:r>
              <a:t>• Seasonal sin/cos features carry secondary weight, consistent with annual harvest cycles.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18872"/>
            <a:ext cx="11277295" cy="4572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Limitations &amp; future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07069"/>
                </a:solidFill>
              </a:defRPr>
            </a:pPr>
            <a:r>
              <a:t>ChaiIntel — Kenya Tea Auction Forecasting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41C1A"/>
                </a:solidFill>
              </a:defRPr>
            </a:pPr>
            <a:r>
              <a:t>• Monthly aggregation by mean discards within-month variability; weekly granularity is available.</a:t>
            </a:r>
          </a:p>
          <a:p>
            <a:pPr>
              <a:spcAft>
                <a:spcPts val="600"/>
              </a:spcAft>
              <a:defRPr sz="1600">
                <a:solidFill>
                  <a:srgbClr val="141C1A"/>
                </a:solidFill>
              </a:defRPr>
            </a:pPr>
            <a:r>
              <a:t>• SARIMAX order is hard-coded to (1,1,1); auto_arima would likely improve its standing.</a:t>
            </a:r>
          </a:p>
          <a:p>
            <a:pPr>
              <a:spcAft>
                <a:spcPts val="600"/>
              </a:spcAft>
              <a:defRPr sz="1600">
                <a:solidFill>
                  <a:srgbClr val="141C1A"/>
                </a:solidFill>
              </a:defRPr>
            </a:pPr>
            <a:r>
              <a:t>• Recursive RF forecasting damps long-horizon predictions toward the recent mean. A direct multi-output regressor per horizon would be more principled.</a:t>
            </a:r>
          </a:p>
          <a:p>
            <a:pPr>
              <a:spcAft>
                <a:spcPts val="600"/>
              </a:spcAft>
              <a:defRPr sz="1600">
                <a:solidFill>
                  <a:srgbClr val="141C1A"/>
                </a:solidFill>
              </a:defRPr>
            </a:pPr>
            <a:r>
              <a:t>• Uncertainty bands shown on the dashboard are heuristic (μ ± 1.28·σ_hist), not statistical prediction intervals. Bootstrap residual intervals or SARIMAX's get_forecast().conf_int() are obvious next steps.</a:t>
            </a:r>
          </a:p>
          <a:p>
            <a:pPr>
              <a:spcAft>
                <a:spcPts val="600"/>
              </a:spcAft>
              <a:defRPr sz="1600">
                <a:solidFill>
                  <a:srgbClr val="141C1A"/>
                </a:solidFill>
              </a:defRPr>
            </a:pPr>
            <a:r>
              <a:t>• Dashboard re-fits every model on each request. Caching by CSV mtime, or a nightly batch job writing to a ForecastRun table, would make the UI feel instant.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2194560"/>
            <a:ext cx="1097280" cy="109728"/>
          </a:xfrm>
          <a:prstGeom prst="rect">
            <a:avLst/>
          </a:prstGeom>
          <a:solidFill>
            <a:srgbClr val="52B7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B7E4C7"/>
                </a:solidFill>
              </a:defRPr>
            </a:pPr>
            <a:r>
              <a:t>ChaiIntel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834640"/>
            <a:ext cx="1088136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FFFFFF"/>
                </a:solidFill>
              </a:defRPr>
            </a:pPr>
            <a: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48056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B7E4C7"/>
                </a:solidFill>
              </a:defRPr>
            </a:pPr>
            <a:r>
              <a:t>Live dashboard, code &amp; methodology write-up available at 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